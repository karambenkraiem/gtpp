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08" autoAdjust="0"/>
  </p:normalViewPr>
  <p:slideViewPr>
    <p:cSldViewPr snapToGrid="0" snapToObjects="1">
      <p:cViewPr varScale="1">
        <p:scale>
          <a:sx n="110" d="100"/>
          <a:sy n="110" d="100"/>
        </p:scale>
        <p:origin x="6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36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47472"/>
            <a:ext cx="23774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STEG — </a:t>
            </a:r>
            <a:r>
              <a:rPr lang="en-US" sz="1000" b="1" dirty="0" err="1">
                <a:solidFill>
                  <a:srgbClr val="FFFFFF"/>
                </a:solidFill>
              </a:rPr>
              <a:t>Groupe</a:t>
            </a:r>
            <a:r>
              <a:rPr lang="en-US" sz="1000" b="1" dirty="0">
                <a:solidFill>
                  <a:srgbClr val="FFFFFF"/>
                </a:solidFill>
              </a:rPr>
              <a:t> </a:t>
            </a:r>
            <a:r>
              <a:rPr lang="en-US" sz="1000" b="1" dirty="0" smtClean="0">
                <a:solidFill>
                  <a:srgbClr val="FFFFFF"/>
                </a:solidFill>
              </a:rPr>
              <a:t>Turbine a </a:t>
            </a:r>
            <a:r>
              <a:rPr lang="en-US" sz="1000" b="1" dirty="0" err="1" smtClean="0">
                <a:solidFill>
                  <a:srgbClr val="FFFFFF"/>
                </a:solidFill>
              </a:rPr>
              <a:t>Gaz</a:t>
            </a:r>
            <a:r>
              <a:rPr lang="en-US" sz="1000" b="1" dirty="0" smtClean="0">
                <a:solidFill>
                  <a:srgbClr val="FFFFFF"/>
                </a:solidFill>
              </a:rPr>
              <a:t> La </a:t>
            </a:r>
            <a:r>
              <a:rPr lang="en-US" sz="1000" b="1" dirty="0">
                <a:solidFill>
                  <a:srgbClr val="FFFFFF"/>
                </a:solidFill>
              </a:rPr>
              <a:t>Goulette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/>
            <a:r>
              <a:rPr lang="en-US" sz="2400" dirty="0" err="1">
                <a:solidFill>
                  <a:srgbClr val="FFFFFF"/>
                </a:solidFill>
              </a:rPr>
              <a:t>Digitalisation</a:t>
            </a:r>
            <a:r>
              <a:rPr lang="en-US" sz="2400" dirty="0">
                <a:solidFill>
                  <a:srgbClr val="FFFFFF"/>
                </a:solidFill>
              </a:rPr>
              <a:t> du </a:t>
            </a:r>
            <a:r>
              <a:rPr lang="en-US" sz="2400" dirty="0" err="1">
                <a:solidFill>
                  <a:srgbClr val="FFFFFF"/>
                </a:solidFill>
              </a:rPr>
              <a:t>suivi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d'exploitation</a:t>
            </a:r>
            <a:endParaRPr lang="en-US" sz="2400" dirty="0">
              <a:solidFill>
                <a:srgbClr val="FFFFFF"/>
              </a:solidFill>
            </a:endParaRPr>
          </a:p>
          <a:p>
            <a:pPr algn="ctr"/>
            <a:r>
              <a:rPr lang="en-US" sz="3600" b="1" dirty="0" err="1" smtClean="0">
                <a:solidFill>
                  <a:srgbClr val="FFFFFF"/>
                </a:solidFill>
                <a:latin typeface="Copperplate Gothic Bold" panose="020E0705020206020404" pitchFamily="34" charset="0"/>
              </a:rPr>
              <a:t>GTpp</a:t>
            </a:r>
            <a:r>
              <a:rPr lang="en-US" sz="3600" b="1" dirty="0" smtClean="0">
                <a:solidFill>
                  <a:srgbClr val="FFFFFF"/>
                </a:solidFill>
              </a:rPr>
              <a:t/>
            </a:r>
            <a:br>
              <a:rPr lang="en-US" sz="3600" b="1" dirty="0" smtClean="0">
                <a:solidFill>
                  <a:srgbClr val="FFFFFF"/>
                </a:solidFill>
              </a:rPr>
            </a:br>
            <a:r>
              <a:rPr lang="en-US" sz="3600" b="1" dirty="0" smtClean="0">
                <a:solidFill>
                  <a:srgbClr val="FFFFFF"/>
                </a:solidFill>
              </a:rPr>
              <a:t>Gas Turbine Power Plant</a:t>
            </a:r>
            <a:endParaRPr lang="en-US" sz="3600" b="1" dirty="0" smtClean="0">
              <a:solidFill>
                <a:srgbClr val="FFFFF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</a:rPr>
              <a:t>Application web &amp; mobile de gestion des rapports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</a:rPr>
              <a:t>de quart — Turbine à gaz GE 9001E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456432"/>
            <a:ext cx="493776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84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Présenté par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40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FFFFFF"/>
                </a:solidFill>
              </a:rPr>
              <a:t>Karam</a:t>
            </a:r>
            <a:r>
              <a:rPr lang="en-US" sz="1300" b="1" dirty="0" smtClean="0">
                <a:solidFill>
                  <a:srgbClr val="FFFFFF"/>
                </a:solidFill>
              </a:rPr>
              <a:t> BEN KRAIEM : Chef </a:t>
            </a:r>
            <a:r>
              <a:rPr lang="en-US" sz="1300" b="1" dirty="0">
                <a:solidFill>
                  <a:srgbClr val="FFFFFF"/>
                </a:solidFill>
              </a:rPr>
              <a:t>de Quart · Centrale </a:t>
            </a:r>
            <a:r>
              <a:rPr lang="en-US" sz="1300" b="1" dirty="0" smtClean="0">
                <a:solidFill>
                  <a:srgbClr val="FFFFFF"/>
                </a:solidFill>
              </a:rPr>
              <a:t>TAC La </a:t>
            </a:r>
            <a:r>
              <a:rPr lang="en-US" sz="1300" b="1" dirty="0">
                <a:solidFill>
                  <a:srgbClr val="FFFFFF"/>
                </a:solidFill>
              </a:rPr>
              <a:t>Goulette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3308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Master Développement Logiciel &amp; Nouvelles Technologies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64748B"/>
                </a:solidFill>
              </a:rPr>
              <a:t>JUIN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731520"/>
            <a:ext cx="2560320" cy="25603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891B2"/>
                </a:solidFill>
              </a:rPr>
              <a:t>STEG </a:t>
            </a:r>
          </a:p>
          <a:p>
            <a:pPr marL="0" indent="0" algn="ctr">
              <a:buNone/>
            </a:pPr>
            <a:r>
              <a:rPr lang="en-US" sz="1200" b="1" dirty="0" smtClean="0">
                <a:solidFill>
                  <a:srgbClr val="0891B2"/>
                </a:solidFill>
              </a:rPr>
              <a:t>TAC GE </a:t>
            </a:r>
            <a:r>
              <a:rPr lang="en-US" sz="1200" b="1" dirty="0">
                <a:solidFill>
                  <a:srgbClr val="0891B2"/>
                </a:solidFill>
              </a:rPr>
              <a:t>9001E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3749040"/>
            <a:ext cx="1207008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3749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34656" y="3749040"/>
            <a:ext cx="1207008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656" y="37490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4187952"/>
            <a:ext cx="1207008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418795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Zéro Papier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34656" y="4187952"/>
            <a:ext cx="1207008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34656" y="4187952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Temps Réel</a:t>
            </a:r>
            <a:endParaRPr lang="en-US" sz="1100" dirty="0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750" y="1418384"/>
            <a:ext cx="1426659" cy="128859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Sommaire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Plan de la présentation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754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088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Contexte &amp; Constat terrain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475488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8379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Le problème en chiffres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51176"/>
            <a:ext cx="47548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4128" y="25877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La solution : application </a:t>
            </a:r>
            <a:r>
              <a:rPr lang="en-US" sz="1300" dirty="0" err="1" smtClean="0">
                <a:solidFill>
                  <a:srgbClr val="1E293B"/>
                </a:solidFill>
              </a:rPr>
              <a:t>GTpp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4754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337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Fonctionnalités &amp; Démonstration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50792"/>
            <a:ext cx="475488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4050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40873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Gains concrets &amp; ROI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475488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13248" y="108813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Architecture &amp; Sécurité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801368"/>
            <a:ext cx="475488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801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13248" y="18379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Profil du développeur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551176"/>
            <a:ext cx="475488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258775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Plan de déploiement &amp; Besoins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3300984"/>
            <a:ext cx="475488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13248" y="33375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5" grpId="0" animBg="1"/>
      <p:bldP spid="16" grpId="0" animBg="1"/>
      <p:bldP spid="19" grpId="0" animBg="1"/>
      <p:bldP spid="22" grpId="0" animBg="1"/>
      <p:bldP spid="24" grpId="0" animBg="1"/>
      <p:bldP spid="25" grpId="0" animBg="1"/>
      <p:bldP spid="28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1011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Contexte &amp; Constat terrain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 gestion des rapports aujourd'hui — Centrale GTpp La Goulette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265176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Opérateur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6691" y="1444752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57276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Feuille papier A3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" y="213969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Relevés toutes les 2h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270662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~60 paramètres/relevé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327355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36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Écriture à la main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384048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803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Données perdues si papier abîmé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18688" y="1024128"/>
            <a:ext cx="2651760" cy="42062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Chef de Bloc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18688" y="1444752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572768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1024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2 feuilles papier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2139696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Relevés 2h + compteurs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706624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~120 paramètres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273552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3236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Retranscrit les données opérateur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164592" cy="16459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3803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Rapport Excel quotidien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9904" y="1024128"/>
            <a:ext cx="2651760" cy="42062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1024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Chef de Quart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89904" y="1444752"/>
            <a:ext cx="265176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54496" y="1572768"/>
            <a:ext cx="164592" cy="1645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536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Rapport Excel (RJE)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54496" y="2139696"/>
            <a:ext cx="164592" cy="1645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 sections à remplir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2706624"/>
            <a:ext cx="164592" cy="1645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Recopie données du bloc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54496" y="3273552"/>
            <a:ext cx="164592" cy="1645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236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Envoie au Chef d'exploitation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54496" y="3840480"/>
            <a:ext cx="164592" cy="164592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803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30 onglets/mois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</a:rPr>
              <a:t>↓  Ce processus génère des problèmes quotidiens importants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1" grpId="0" animBg="1"/>
      <p:bldP spid="13" grpId="0" animBg="1"/>
      <p:bldP spid="15" grpId="0" animBg="1"/>
      <p:bldP spid="17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5" grpId="0" animBg="1"/>
      <p:bldP spid="37" grpId="0" animBg="1"/>
      <p:bldP spid="39" grpId="0" animBg="1"/>
      <p:bldP spid="41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Le problème en chiffres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La réalité chiffrée du processus papier actuel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65 000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saisies manuelles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par mois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05840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niveaux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retranscription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005840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DB"/>
                </a:solidFill>
              </a:rPr>
              <a:t>2h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 saisie par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relève quotidienne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005840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0972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alerte automatique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en cas d'anomalie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54864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5054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Risque d'erreurs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27249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Retranscription manuelle à 3 niveaux → erreurs de copie, chiffres illisibles, valeurs manquantes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127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Perte de temps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 chef de quart recopie les données du bloc → 30-45 min/jour perdues en double saisie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54864" cy="4389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749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Aucune traçabilité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Impossible de rechercher une valeur passée rapidement — archivage papier non consultable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52544"/>
            <a:ext cx="54864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3708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Pas d'indicateurs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Aucune alerte sur dépassement de seuil (spread échappement, vibrations, températures inter-roues)</a:t>
            </a:r>
            <a:endParaRPr lang="en-US" sz="10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Application web &amp; mobile de gestion des rapports d'exploitation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081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Mobile &amp; 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iOS, Android et PC — même application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98448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4081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Relevés toutes les 2h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Formulaires guidés, saisie rapide et validée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298448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4081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Consolidation auto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76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Le rapport chef de quart se pré-remplit depuis les données du bloc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871216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48640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Alertes en temps réel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Seuils configurables : spread, vibrations, températures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871216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474720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Tableaux de bord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KPIs journaliers, historique mensuel consultable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871216"/>
            <a:ext cx="2651760" cy="1389888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6364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0" y="3465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91B2"/>
                </a:solidFill>
              </a:rPr>
              <a:t>Export Excel &amp; PDF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Génère le rapport au même format que l'existant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Workflow digitalisé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Le même processus, zéro papier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1920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Opérateur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Saisit relevés 2h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sur mobile/tablette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60604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Données sauvegardées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automatiquement en base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76272" y="1874520"/>
            <a:ext cx="25603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783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891B2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32304" y="960120"/>
            <a:ext cx="192024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960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Chef de Bloc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32304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23744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Consulte relevés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en temps réel + valide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32304" y="260604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Compteurs + manœuvres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saisis digitalement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52544" y="1874520"/>
            <a:ext cx="25603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783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6DB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960120"/>
            <a:ext cx="19202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08576" y="960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Chef de Quart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0016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Rapport pré-rempli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automatiquement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08576" y="260604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Ajoute incidents + 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puis valide &amp; envoie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28816" y="1874520"/>
            <a:ext cx="256032" cy="0"/>
          </a:xfrm>
          <a:prstGeom prst="line">
            <a:avLst/>
          </a:prstGeom>
          <a:noFill/>
          <a:ln w="25400">
            <a:solidFill>
              <a:srgbClr val="0D1B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178308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3E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84848" y="960120"/>
            <a:ext cx="1920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84848" y="960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Chef d'Exploit.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84848" y="14173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76288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Reçoit notification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</a:rPr>
              <a:t>+ rapport complet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84848" y="260604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76288" y="26517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Consulte, archive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et suit les KPIs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730752"/>
            <a:ext cx="8631936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730752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Résultat : rapport journalier complet, validé et transmis en quelques clics — sans aucun papier ni double saisie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Avant / Après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Comparaison du processus d'exploitation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651760" y="960120"/>
            <a:ext cx="283464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960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AVANT  (Papier)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960120"/>
            <a:ext cx="30632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9601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APRÈS  (Application)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481328"/>
            <a:ext cx="23042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481328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481328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51790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Saisie relevés 2h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3472" y="151790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Stylo sur feuille A3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59552" y="151790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Formulaire mobile guidé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2304288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1956816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956816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99339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Transmission données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33472" y="199339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Papier → chef de bloc verbal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59552" y="199339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Automatique, instantanée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2432304"/>
            <a:ext cx="23042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43230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2432304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468880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Rapport chef de quart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33472" y="2468880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Recopie manuelle Excel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9552" y="246888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Pré-rempli automatiquement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2907792"/>
            <a:ext cx="2304288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2907792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907792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944368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Alertes anomalies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33472" y="2944368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Aucune — détection tardive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59552" y="2944368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Alertes push en temps réel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3383280"/>
            <a:ext cx="23042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3383280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3383280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3419856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Recherche historique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33472" y="3419856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Impossible ou très long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59552" y="3419856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Filtre par date en 1 clic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3858768"/>
            <a:ext cx="2304288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0" y="3858768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3858768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3895344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Archivage mensuel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633472" y="3895344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Classeurs papier, risque perte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59552" y="3895344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Base de données sécurisée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6032" y="4334256"/>
            <a:ext cx="230428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0320" y="4334256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0" y="4334256"/>
            <a:ext cx="324612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37083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Export rapport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633472" y="4370832"/>
            <a:ext cx="2779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</a:rPr>
              <a:t>Fichier Excel recopié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59552" y="4370832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</a:rPr>
              <a:t>Génération PDF/Excel auto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Gains concrets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Impact mesurable sur l'exploitation quotidienne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59669"/>
                </a:solidFill>
              </a:rPr>
              <a:t>-90%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 saisie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redondante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8755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789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56DB"/>
                </a:solidFill>
              </a:rPr>
              <a:t>+30min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764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récupérées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par jour/agent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98755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0789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100%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1764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traçabilité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des données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98755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0789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1B3E"/>
                </a:solidFill>
              </a:rPr>
              <a:t>24/7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37960" y="17647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historique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consultable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54864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560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Fiabilité des données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2798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Saisie unique à la source → 0 retranscription → 0 erreur de copie. Chaque valeur est horodatée et attribuée à l'agent.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54864" cy="4389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1821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Temps &amp; productivité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3419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~30 min/jour récupérées par le chef de quart seul. Sur un mois : +15h productives. Sur une centrale complète : impact majeur.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85616"/>
            <a:ext cx="54864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8039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Sécurité de l'installation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Alertes automatiques sur 6 paramètres critiques (spread échappement, vibrations, inter-roues) → intervention précoce.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407408"/>
            <a:ext cx="54864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Conformité &amp;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Historique complet consultable à tout moment. Préparation aux audits en quelques minutes au lieu de plusieurs heures.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Architecture &amp; Sécurité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Solution robuste, hébergée en intranet local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1371600" cy="6766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024128"/>
            <a:ext cx="69494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10789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React Native + React.js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75104" y="133502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Application mobile (iOS/Android) et web (PC) — une seule codebase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1371600" cy="67665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1901952"/>
            <a:ext cx="69494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75104" y="195681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Node.js + Express + API REST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75104" y="22128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Serveur d'application, authentification JWT, gestion des rôles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1371600" cy="67665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9776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données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2792932"/>
            <a:ext cx="69494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975104" y="28346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75104" y="309067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65 000 valeurs/mois, schéma optimisé, sauvegarde automatique nightly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1371600" cy="6766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Infra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657600"/>
            <a:ext cx="69494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75104" y="37124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</a:rPr>
              <a:t>Docker + Nginx — </a:t>
            </a:r>
            <a:r>
              <a:rPr lang="en-US" sz="1200" b="1" dirty="0" err="1">
                <a:solidFill>
                  <a:srgbClr val="64748B"/>
                </a:solidFill>
              </a:rPr>
              <a:t>Serveur</a:t>
            </a:r>
            <a:r>
              <a:rPr lang="en-US" sz="1200" b="1" dirty="0">
                <a:solidFill>
                  <a:srgbClr val="64748B"/>
                </a:solidFill>
              </a:rPr>
              <a:t> </a:t>
            </a:r>
            <a:r>
              <a:rPr lang="en-US" sz="1200" b="1" dirty="0" smtClean="0">
                <a:solidFill>
                  <a:srgbClr val="64748B"/>
                </a:solidFill>
              </a:rPr>
              <a:t>local / Distant / Cloud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75104" y="396849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</a:rPr>
              <a:t>Déployé en intranet de la centrale, aucune </a:t>
            </a:r>
            <a:r>
              <a:rPr lang="en-US" sz="1000" dirty="0" err="1">
                <a:solidFill>
                  <a:srgbClr val="64748B"/>
                </a:solidFill>
              </a:rPr>
              <a:t>dépendance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smtClean="0">
                <a:solidFill>
                  <a:srgbClr val="64748B"/>
                </a:solidFill>
              </a:rPr>
              <a:t>Internet : </a:t>
            </a:r>
            <a:r>
              <a:rPr lang="en-US" sz="1000" dirty="0" err="1" smtClean="0">
                <a:solidFill>
                  <a:srgbClr val="64748B"/>
                </a:solidFill>
              </a:rPr>
              <a:t>une</a:t>
            </a:r>
            <a:r>
              <a:rPr lang="en-US" sz="1000" dirty="0" smtClean="0">
                <a:solidFill>
                  <a:srgbClr val="64748B"/>
                </a:solidFill>
              </a:rPr>
              <a:t> </a:t>
            </a:r>
            <a:r>
              <a:rPr lang="en-US" sz="1000" dirty="0" err="1" smtClean="0">
                <a:solidFill>
                  <a:srgbClr val="64748B"/>
                </a:solidFill>
              </a:rPr>
              <a:t>contrainte</a:t>
            </a:r>
            <a:r>
              <a:rPr lang="en-US" sz="1000" dirty="0" smtClean="0">
                <a:solidFill>
                  <a:srgbClr val="64748B"/>
                </a:solidFill>
              </a:rPr>
              <a:t> sur </a:t>
            </a:r>
            <a:r>
              <a:rPr lang="en-US" sz="1000" dirty="0" err="1" smtClean="0">
                <a:solidFill>
                  <a:srgbClr val="64748B"/>
                </a:solidFill>
              </a:rPr>
              <a:t>chantier</a:t>
            </a:r>
            <a:r>
              <a:rPr lang="en-US" sz="1000" dirty="0" smtClean="0">
                <a:solidFill>
                  <a:srgbClr val="64748B"/>
                </a:solidFill>
              </a:rPr>
              <a:t> pour l </a:t>
            </a:r>
            <a:r>
              <a:rPr lang="en-US" sz="1000" dirty="0" err="1" smtClean="0">
                <a:solidFill>
                  <a:srgbClr val="64748B"/>
                </a:solidFill>
              </a:rPr>
              <a:t>operateur</a:t>
            </a:r>
            <a:r>
              <a:rPr lang="en-US" sz="1000" dirty="0" smtClean="0">
                <a:solidFill>
                  <a:srgbClr val="64748B"/>
                </a:solidFill>
              </a:rPr>
              <a:t> </a:t>
            </a:r>
            <a:br>
              <a:rPr lang="en-US" sz="1000" dirty="0" smtClean="0">
                <a:solidFill>
                  <a:srgbClr val="64748B"/>
                </a:solidFill>
              </a:rPr>
            </a:br>
            <a:r>
              <a:rPr lang="en-US" sz="1000" dirty="0" err="1" smtClean="0">
                <a:solidFill>
                  <a:srgbClr val="64748B"/>
                </a:solidFill>
              </a:rPr>
              <a:t>Idealement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err="1" smtClean="0">
                <a:solidFill>
                  <a:srgbClr val="64748B"/>
                </a:solidFill>
              </a:rPr>
              <a:t>déployé</a:t>
            </a:r>
            <a:r>
              <a:rPr lang="en-US" sz="1000" dirty="0" smtClean="0">
                <a:solidFill>
                  <a:srgbClr val="64748B"/>
                </a:solidFill>
              </a:rPr>
              <a:t> au Cloud et internet </a:t>
            </a:r>
            <a:r>
              <a:rPr lang="en-US" sz="1000" dirty="0" err="1" smtClean="0">
                <a:solidFill>
                  <a:srgbClr val="64748B"/>
                </a:solidFill>
              </a:rPr>
              <a:t>requise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6DB"/>
                </a:solidFill>
              </a:rPr>
              <a:t>🔒  Sécurité : authentification par rôle (opérateur / chef de bloc / chef de quart / chef d'exploitation)  ·  Accès restreint par niveau  ·  Données non exposées à Internet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Profil du développeur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Une double compétence unique : terrain + technique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87552"/>
            <a:ext cx="3931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Expertise Terrain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60934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72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Chef de Quart — Centrale GTpp La Goulette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84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Connaissance </a:t>
            </a:r>
            <a:r>
              <a:rPr lang="en-US" sz="1100" dirty="0" err="1">
                <a:solidFill>
                  <a:srgbClr val="1E293B"/>
                </a:solidFill>
              </a:rPr>
              <a:t>approfondie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smtClean="0">
                <a:solidFill>
                  <a:srgbClr val="1E293B"/>
                </a:solidFill>
              </a:rPr>
              <a:t>des TAG </a:t>
            </a:r>
            <a:r>
              <a:rPr lang="en-US" sz="1100" dirty="0">
                <a:solidFill>
                  <a:srgbClr val="1E293B"/>
                </a:solidFill>
              </a:rPr>
              <a:t>GE 9001E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63347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596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Utilisateur quotidien des 3 rapports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145536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089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Comprend les besoins réels du terrain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2102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Identifie les paramètres critiques à surveiller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987552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87552"/>
            <a:ext cx="393192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87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Compétence Technique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47488" y="1609344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5727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Master Développement Logiciel en cours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47488" y="2240280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22037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Application développée de A à 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4628" y="2834640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2788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React Native · Node.js · PostgreSQL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47488" y="3511296"/>
            <a:ext cx="146304" cy="14630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456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Architecture web &amp; mobile professionnelle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1B3E"/>
                </a:solidFill>
              </a:rPr>
              <a:t>↕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D1B3E"/>
                </a:solidFill>
              </a:rPr>
              <a:t>LE </a:t>
            </a:r>
            <a:r>
              <a:rPr lang="en-US" sz="1200" b="1" dirty="0">
                <a:solidFill>
                  <a:srgbClr val="0D1B3E"/>
                </a:solidFill>
              </a:rPr>
              <a:t>TERRAIN et LA TECHNOLOGIE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54864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164592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</a:rPr>
              <a:t>Plan de déploiement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694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3 phases — déploiement progressif et sans risque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265176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Phase Pilote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(1 mois)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26517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" y="1627632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9105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Déploiement sur 1 poste 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2103120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0665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Formation des utilisateurs pilotes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" y="2578608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4203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Validation des formulaires sur données réelles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" y="3054096"/>
            <a:ext cx="137160" cy="1371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Correction des ajustements terrain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55264" y="1005840"/>
            <a:ext cx="2651760" cy="4754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1005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Généralisation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(2 mois)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55264" y="1481328"/>
            <a:ext cx="26517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19856" y="1627632"/>
            <a:ext cx="137160" cy="1371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159105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Déploiement sur tous les postes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856" y="2103120"/>
            <a:ext cx="137160" cy="1371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20665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Formation de l'ensemble du personnel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9856" y="2578608"/>
            <a:ext cx="137160" cy="1371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9312" y="254203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Fonctionnement en parallèle (papier + app)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9856" y="3054096"/>
            <a:ext cx="137160" cy="13716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301752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Validation par chef d'exploitation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1005840"/>
            <a:ext cx="265176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005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21424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Zéro Papier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(mois 4+)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1481328"/>
            <a:ext cx="265176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27648" y="1627632"/>
            <a:ext cx="137160" cy="13716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7104" y="159105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Arrêt progressif des feuilles papier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27648" y="2103120"/>
            <a:ext cx="137160" cy="13716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7104" y="20665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Tableau de bord direction activé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7648" y="2578608"/>
            <a:ext cx="137160" cy="13716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7104" y="254203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Export automatique des rapports mensuels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27648" y="3054096"/>
            <a:ext cx="137160" cy="137160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47104" y="301752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Maintenance &amp; évolutions continues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3730752"/>
            <a:ext cx="8449056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73075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Ce dont j'ai besoin pour finaliser le déploiement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096512"/>
            <a:ext cx="25786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14800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932688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A56DB"/>
                </a:solidFill>
              </a:rPr>
              <a:t>Serveur</a:t>
            </a:r>
            <a:r>
              <a:rPr lang="en-US" sz="1100" b="1" dirty="0">
                <a:solidFill>
                  <a:srgbClr val="1A56DB"/>
                </a:solidFill>
              </a:rPr>
              <a:t> </a:t>
            </a:r>
            <a:r>
              <a:rPr lang="en-US" sz="1100" b="1" dirty="0" smtClean="0">
                <a:solidFill>
                  <a:srgbClr val="1A56DB"/>
                </a:solidFill>
              </a:rPr>
              <a:t>distant / VPS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32688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Pour héberger l'application </a:t>
            </a:r>
            <a:r>
              <a:rPr lang="en-US" sz="1000" dirty="0" err="1">
                <a:solidFill>
                  <a:srgbClr val="64748B"/>
                </a:solidFill>
              </a:rPr>
              <a:t>en</a:t>
            </a:r>
            <a:r>
              <a:rPr lang="en-US" sz="1000" dirty="0">
                <a:solidFill>
                  <a:srgbClr val="64748B"/>
                </a:solidFill>
              </a:rPr>
              <a:t> </a:t>
            </a:r>
            <a:r>
              <a:rPr lang="en-US" sz="1000" dirty="0" smtClean="0">
                <a:solidFill>
                  <a:srgbClr val="64748B"/>
                </a:solidFill>
              </a:rPr>
              <a:t>internet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91840" y="4096512"/>
            <a:ext cx="25786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114800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767328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Tablettes / smartphones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767328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Pour les opérateurs et chefs de bloc sur le terrain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26480" y="4096512"/>
            <a:ext cx="2578608" cy="804672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4114800"/>
            <a:ext cx="475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601968" y="41330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DB"/>
                </a:solidFill>
              </a:rPr>
              <a:t>Validation officielle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01968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Approbation de la hiérarchie pour le déploiement</a:t>
            </a:r>
            <a:endParaRPr lang="en-US" sz="10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 résumé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89611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15568" y="1060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Application complète et testée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4081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Développée sur la base de vos données réelles d'Avril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57984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15798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15568" y="23225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Web + Mobile, même application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6700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Accessible partout dans la centrale, sur PC et sur smartphone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3419856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15568" y="3584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</a:rPr>
              <a:t>Zéro double saisie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931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Le rapport chef de quart se pré-remplit automatiquement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896112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896112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13248" y="1060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Alertes temps réel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3248" y="14081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Sur les 6 paramètres critiques de la GE 9001E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157984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2157984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13248" y="23225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Historique complet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26700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65 000 valeurs/mois archivées, consultables en un clic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419856"/>
            <a:ext cx="4005072" cy="1097280"/>
          </a:xfrm>
          <a:prstGeom prst="rect">
            <a:avLst/>
          </a:prstGeom>
          <a:solidFill>
            <a:srgbClr val="112240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3419856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13248" y="35844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Fait par un agent de la centrale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13248" y="3931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Connaissance terrain + compétence technique = solution sur mesure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091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Cette application est prête. Il ne manque que votre validation pour transformer l'exploitation de la centrale.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1129</Words>
  <Application>Microsoft Office PowerPoint</Application>
  <PresentationFormat>Affichage à l'écran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Copperplate Gothic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Digitalisation du suivi d'exploitation — GTpp La Goulette</dc:title>
  <dc:subject>PptxGenJS Presentation</dc:subject>
  <dc:creator>Chef de Quart — GTpp La Goulette</dc:creator>
  <cp:lastModifiedBy>DELL</cp:lastModifiedBy>
  <cp:revision>5</cp:revision>
  <dcterms:created xsi:type="dcterms:W3CDTF">2026-05-26T07:52:31Z</dcterms:created>
  <dcterms:modified xsi:type="dcterms:W3CDTF">2026-05-26T11:01:55Z</dcterms:modified>
</cp:coreProperties>
</file>